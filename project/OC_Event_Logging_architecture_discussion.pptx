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67" r:id="rId3"/>
    <p:sldId id="268" r:id="rId4"/>
    <p:sldId id="278" r:id="rId5"/>
    <p:sldId id="291" r:id="rId6"/>
    <p:sldId id="290" r:id="rId7"/>
    <p:sldId id="280" r:id="rId8"/>
    <p:sldId id="285" r:id="rId9"/>
    <p:sldId id="286" r:id="rId10"/>
    <p:sldId id="283" r:id="rId11"/>
    <p:sldId id="287" r:id="rId12"/>
    <p:sldId id="288" r:id="rId13"/>
    <p:sldId id="28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82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9C7A0-9C7B-C66F-9FB4-600300C74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2546062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err="1"/>
              <a:t>Optim</a:t>
            </a:r>
            <a:r>
              <a:rPr lang="en-US" dirty="0"/>
              <a:t> cloud event system architecture/features discussion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25DA60-16F9-AC11-BEF0-04242F0E0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182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041C-035A-4BFA-59B2-A1CED500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D896-10C1-6036-8C36-127BE466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Architecture design</a:t>
            </a:r>
          </a:p>
          <a:p>
            <a:pPr lvl="1"/>
            <a:r>
              <a:rPr lang="en-US" dirty="0" err="1"/>
              <a:t>Protobuf</a:t>
            </a:r>
            <a:r>
              <a:rPr lang="en-US" dirty="0"/>
              <a:t> decode </a:t>
            </a:r>
            <a:r>
              <a:rPr lang="en-US" dirty="0" err="1"/>
              <a:t>oc</a:t>
            </a:r>
            <a:r>
              <a:rPr lang="en-US" dirty="0"/>
              <a:t>-events-</a:t>
            </a:r>
            <a:r>
              <a:rPr lang="en-US" dirty="0" err="1"/>
              <a:t>mqtt</a:t>
            </a:r>
            <a:r>
              <a:rPr lang="en-US" dirty="0"/>
              <a:t> topic’s payload.</a:t>
            </a:r>
          </a:p>
          <a:p>
            <a:pPr lvl="1"/>
            <a:r>
              <a:rPr lang="en-US" dirty="0"/>
              <a:t>Auto ingestion with </a:t>
            </a:r>
            <a:r>
              <a:rPr lang="en-US" dirty="0" err="1"/>
              <a:t>kafka</a:t>
            </a:r>
            <a:r>
              <a:rPr lang="en-US" dirty="0"/>
              <a:t>-connect-</a:t>
            </a:r>
            <a:r>
              <a:rPr lang="en-US" dirty="0" err="1"/>
              <a:t>tdengine</a:t>
            </a:r>
            <a:r>
              <a:rPr lang="en-US" dirty="0"/>
              <a:t> and </a:t>
            </a:r>
            <a:r>
              <a:rPr lang="en-US" dirty="0" err="1"/>
              <a:t>kafka</a:t>
            </a:r>
            <a:r>
              <a:rPr lang="en-US" dirty="0"/>
              <a:t>-connect-</a:t>
            </a:r>
            <a:r>
              <a:rPr lang="en-US" dirty="0" err="1"/>
              <a:t>mongodb</a:t>
            </a:r>
            <a:endParaRPr lang="en-US" dirty="0"/>
          </a:p>
          <a:p>
            <a:pPr lvl="1"/>
            <a:r>
              <a:rPr lang="en-US" dirty="0"/>
              <a:t>Event/metrics/update schema design</a:t>
            </a:r>
          </a:p>
          <a:p>
            <a:r>
              <a:rPr lang="en-US" dirty="0"/>
              <a:t>Supporting new event type/existing event type’s changes</a:t>
            </a:r>
          </a:p>
          <a:p>
            <a:r>
              <a:rPr lang="en-US" dirty="0" err="1"/>
              <a:t>Optim</a:t>
            </a:r>
            <a:r>
              <a:rPr lang="en-US" dirty="0"/>
              <a:t> event control config support</a:t>
            </a:r>
          </a:p>
        </p:txBody>
      </p:sp>
    </p:spTree>
    <p:extLst>
      <p:ext uri="{BB962C8B-B14F-4D97-AF65-F5344CB8AC3E}">
        <p14:creationId xmlns:p14="http://schemas.microsoft.com/office/powerpoint/2010/main" val="228266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BE1C-A798-02B5-F9CF-883ECAFA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B4F5C-7593-BD66-539F-BB2CDFD93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Optim</a:t>
            </a:r>
            <a:r>
              <a:rPr lang="en-US" b="1" dirty="0"/>
              <a:t> Cloud Event System</a:t>
            </a:r>
            <a:r>
              <a:rPr lang="en-US" dirty="0"/>
              <a:t> is designed to collect, store, and analyze a wide range of events from home network devices, including gateways and extenders. These events are used for: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Monitoring network health</a:t>
            </a:r>
          </a:p>
          <a:p>
            <a:r>
              <a:rPr lang="en-US" dirty="0"/>
              <a:t>Detecting and diagnosing anomalies</a:t>
            </a:r>
          </a:p>
          <a:p>
            <a:r>
              <a:rPr lang="en-US" dirty="0"/>
              <a:t>Supporting AI-based analytics</a:t>
            </a:r>
          </a:p>
          <a:p>
            <a:r>
              <a:rPr lang="en-US" dirty="0"/>
              <a:t>Enabling customer support and remote troubleshooting</a:t>
            </a:r>
          </a:p>
          <a:p>
            <a:pPr lvl="1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0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14B1-A9C1-A872-0257-A9BF3C6B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1998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Optim</a:t>
            </a:r>
            <a:r>
              <a:rPr lang="en-US" dirty="0"/>
              <a:t> Event System Architecture (backend)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5DE95-2890-B026-1C1E-A0BF0907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8" y="1672683"/>
            <a:ext cx="6897063" cy="46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3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3147-7F76-4024-3217-6F15FA73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Optim</a:t>
            </a:r>
            <a:r>
              <a:rPr lang="en-US" dirty="0"/>
              <a:t> Event MQTT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36596-F6C8-4F9D-FD23-C7CD3519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4024"/>
            <a:ext cx="3769113" cy="5078313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Topic: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oc_events_mqtt</a:t>
            </a:r>
            <a:r>
              <a:rPr lang="en-US" sz="2000" dirty="0"/>
              <a:t>/{</a:t>
            </a:r>
            <a:r>
              <a:rPr lang="en-US" sz="2000" dirty="0" err="1"/>
              <a:t>serial_number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Mqtt</a:t>
            </a:r>
            <a:r>
              <a:rPr lang="en-US" sz="2000" dirty="0"/>
              <a:t> message payload schema:</a:t>
            </a:r>
          </a:p>
          <a:p>
            <a:r>
              <a:rPr lang="en-US" sz="2400" dirty="0" err="1"/>
              <a:t>event_report_type</a:t>
            </a:r>
            <a:r>
              <a:rPr lang="en-US" sz="2400" dirty="0"/>
              <a:t>: can have value of: </a:t>
            </a:r>
          </a:p>
          <a:p>
            <a:pPr lvl="1"/>
            <a:r>
              <a:rPr lang="en-US" sz="2400" dirty="0"/>
              <a:t>EVENTS</a:t>
            </a:r>
          </a:p>
          <a:p>
            <a:pPr lvl="1"/>
            <a:r>
              <a:rPr lang="en-US" sz="2400" dirty="0"/>
              <a:t>METRIC</a:t>
            </a:r>
          </a:p>
          <a:p>
            <a:pPr lvl="1"/>
            <a:r>
              <a:rPr lang="en-US" sz="2400" dirty="0"/>
              <a:t>UPDATE </a:t>
            </a:r>
          </a:p>
          <a:p>
            <a:r>
              <a:rPr lang="en-US" sz="2400" dirty="0" err="1"/>
              <a:t>event_data</a:t>
            </a:r>
            <a:r>
              <a:rPr lang="en-US" sz="2400" dirty="0"/>
              <a:t>:   </a:t>
            </a:r>
            <a:r>
              <a:rPr lang="en-US" sz="2400" dirty="0" err="1"/>
              <a:t>json</a:t>
            </a:r>
            <a:r>
              <a:rPr lang="en-US" sz="2400" dirty="0"/>
              <a:t>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F1BC1-5CB9-83B1-1481-7922B7D2233F}"/>
              </a:ext>
            </a:extLst>
          </p:cNvPr>
          <p:cNvSpPr txBox="1"/>
          <p:nvPr/>
        </p:nvSpPr>
        <p:spPr>
          <a:xfrm>
            <a:off x="4572000" y="1324024"/>
            <a:ext cx="4114800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Mqtt</a:t>
            </a:r>
            <a:r>
              <a:rPr lang="en-US" dirty="0"/>
              <a:t> topic:   </a:t>
            </a:r>
            <a:r>
              <a:rPr lang="en-US" dirty="0" err="1"/>
              <a:t>oc_events_mqtt</a:t>
            </a:r>
            <a:endParaRPr lang="en-US" dirty="0"/>
          </a:p>
          <a:p>
            <a:endParaRPr lang="en-US" dirty="0"/>
          </a:p>
          <a:p>
            <a:r>
              <a:rPr lang="en-US" dirty="0"/>
              <a:t>Message:</a:t>
            </a:r>
          </a:p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 "</a:t>
            </a:r>
            <a:r>
              <a:rPr lang="en-US" dirty="0" err="1"/>
              <a:t>event_report_type</a:t>
            </a:r>
            <a:r>
              <a:rPr lang="en-US" dirty="0"/>
              <a:t>": "EVENTS",</a:t>
            </a:r>
            <a:br>
              <a:rPr lang="en-US" dirty="0"/>
            </a:br>
            <a:r>
              <a:rPr lang="en-US" dirty="0"/>
              <a:t>  "</a:t>
            </a:r>
            <a:r>
              <a:rPr lang="en-US" dirty="0" err="1"/>
              <a:t>event_data</a:t>
            </a:r>
            <a:r>
              <a:rPr lang="en-US" dirty="0"/>
              <a:t>": {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ts</a:t>
            </a:r>
            <a:r>
              <a:rPr lang="en-US" dirty="0"/>
              <a:t>": 1720732800000,  // the time event triggered.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EQP-BOOT:cause</a:t>
            </a:r>
            <a:r>
              <a:rPr lang="en-US" dirty="0"/>
              <a:t>": "</a:t>
            </a:r>
            <a:r>
              <a:rPr lang="en-US" dirty="0" err="1"/>
              <a:t>RemoteReboot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EQP-BOOT:reason</a:t>
            </a:r>
            <a:r>
              <a:rPr lang="en-US" dirty="0"/>
              <a:t>": "watchdog",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event_id</a:t>
            </a:r>
            <a:r>
              <a:rPr lang="en-US" dirty="0"/>
              <a:t>": "EQP-BOOT",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network_id</a:t>
            </a:r>
            <a:r>
              <a:rPr lang="en-US" dirty="0"/>
              <a:t>": "net-001",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serial_number</a:t>
            </a:r>
            <a:r>
              <a:rPr lang="en-US" dirty="0"/>
              <a:t>": "GW12345678",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object_id</a:t>
            </a:r>
            <a:r>
              <a:rPr lang="en-US" dirty="0"/>
              <a:t>": "",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equip_type</a:t>
            </a:r>
            <a:r>
              <a:rPr lang="en-US" dirty="0"/>
              <a:t>": "gateway",</a:t>
            </a:r>
            <a:br>
              <a:rPr lang="en-US" dirty="0"/>
            </a:br>
            <a:r>
              <a:rPr lang="en-US" dirty="0"/>
              <a:t>    "</a:t>
            </a:r>
            <a:r>
              <a:rPr lang="en-US" dirty="0" err="1"/>
              <a:t>fw_version</a:t>
            </a:r>
            <a:r>
              <a:rPr lang="en-US" dirty="0"/>
              <a:t>": "3.2.0-build100",</a:t>
            </a:r>
            <a:br>
              <a:rPr lang="en-US" dirty="0"/>
            </a:br>
            <a:r>
              <a:rPr lang="en-US" dirty="0"/>
              <a:t>    "isp": “testis-01"</a:t>
            </a:r>
            <a:br>
              <a:rPr lang="en-US" dirty="0"/>
            </a:br>
            <a:r>
              <a:rPr lang="en-US" dirty="0"/>
              <a:t>  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16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38C0-0C34-ACC6-7531-7F23034C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Optim</a:t>
            </a:r>
            <a:r>
              <a:rPr lang="en-US" dirty="0"/>
              <a:t> event auto ingestion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7E63-540A-16DE-CA58-5A21DA0B7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73405"/>
            <a:ext cx="8229600" cy="4252758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New Kafka connector to: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Read data from </a:t>
            </a:r>
            <a:r>
              <a:rPr lang="en-US" dirty="0" err="1"/>
              <a:t>mqtt’s</a:t>
            </a:r>
            <a:r>
              <a:rPr lang="en-US" dirty="0"/>
              <a:t> </a:t>
            </a:r>
            <a:r>
              <a:rPr lang="en-US" dirty="0" err="1"/>
              <a:t>oc</a:t>
            </a:r>
            <a:r>
              <a:rPr lang="en-US" dirty="0"/>
              <a:t>-events-</a:t>
            </a:r>
            <a:r>
              <a:rPr lang="en-US" dirty="0" err="1"/>
              <a:t>mqtt</a:t>
            </a:r>
            <a:r>
              <a:rPr lang="en-US" dirty="0"/>
              <a:t> topic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Protobuf</a:t>
            </a:r>
            <a:r>
              <a:rPr lang="en-US" dirty="0"/>
              <a:t> decode the </a:t>
            </a:r>
            <a:r>
              <a:rPr lang="en-US" dirty="0" err="1"/>
              <a:t>mqtt</a:t>
            </a:r>
            <a:r>
              <a:rPr lang="en-US" dirty="0"/>
              <a:t> message payload in </a:t>
            </a:r>
            <a:r>
              <a:rPr lang="en-US" dirty="0" err="1"/>
              <a:t>kafka</a:t>
            </a:r>
            <a:r>
              <a:rPr lang="en-US" dirty="0"/>
              <a:t>-connect-</a:t>
            </a:r>
            <a:r>
              <a:rPr lang="en-US" dirty="0" err="1"/>
              <a:t>mqtt</a:t>
            </a:r>
            <a:r>
              <a:rPr lang="en-US" dirty="0"/>
              <a:t> connector.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Publish to Kafka cluster: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dirty="0"/>
              <a:t>Topic: </a:t>
            </a:r>
            <a:r>
              <a:rPr lang="en-US" dirty="0" err="1"/>
              <a:t>oc</a:t>
            </a:r>
            <a:r>
              <a:rPr lang="en-US" dirty="0"/>
              <a:t>-events or </a:t>
            </a:r>
            <a:r>
              <a:rPr lang="en-US" dirty="0" err="1"/>
              <a:t>oc_metrics</a:t>
            </a:r>
            <a:r>
              <a:rPr lang="en-US" dirty="0"/>
              <a:t> based on the </a:t>
            </a:r>
            <a:r>
              <a:rPr lang="en-US" dirty="0" err="1"/>
              <a:t>report_event_type</a:t>
            </a:r>
            <a:r>
              <a:rPr lang="en-US" dirty="0"/>
              <a:t>  in the </a:t>
            </a:r>
            <a:r>
              <a:rPr lang="en-US" dirty="0" err="1"/>
              <a:t>mqtt</a:t>
            </a:r>
            <a:r>
              <a:rPr lang="en-US" dirty="0"/>
              <a:t> message.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dirty="0"/>
              <a:t>Message data:   the </a:t>
            </a:r>
            <a:r>
              <a:rPr lang="en-US" dirty="0" err="1"/>
              <a:t>event_data</a:t>
            </a:r>
            <a:r>
              <a:rPr lang="en-US" dirty="0"/>
              <a:t> from </a:t>
            </a:r>
            <a:r>
              <a:rPr lang="en-US" dirty="0" err="1"/>
              <a:t>mqtt</a:t>
            </a:r>
            <a:r>
              <a:rPr lang="en-US" dirty="0"/>
              <a:t> message.</a:t>
            </a:r>
          </a:p>
          <a:p>
            <a:pPr marL="857250" lvl="2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2.     Kafka-connect-</a:t>
            </a:r>
            <a:r>
              <a:rPr lang="en-US" dirty="0" err="1"/>
              <a:t>tdengine</a:t>
            </a:r>
            <a:r>
              <a:rPr lang="en-US" dirty="0"/>
              <a:t> to:</a:t>
            </a:r>
          </a:p>
          <a:p>
            <a:pPr marL="971550" lvl="1" indent="-514350"/>
            <a:r>
              <a:rPr lang="en-US" dirty="0"/>
              <a:t>Read data from </a:t>
            </a:r>
            <a:r>
              <a:rPr lang="en-US" dirty="0" err="1"/>
              <a:t>oc</a:t>
            </a:r>
            <a:r>
              <a:rPr lang="en-US" dirty="0"/>
              <a:t>-events,</a:t>
            </a:r>
          </a:p>
          <a:p>
            <a:pPr marL="971550" lvl="1" indent="-514350"/>
            <a:r>
              <a:rPr lang="en-US" dirty="0"/>
              <a:t>Insert to </a:t>
            </a:r>
            <a:r>
              <a:rPr lang="en-US" dirty="0" err="1"/>
              <a:t>oc_events</a:t>
            </a:r>
            <a:r>
              <a:rPr lang="en-US" dirty="0"/>
              <a:t> table with proper mapping.</a:t>
            </a:r>
          </a:p>
          <a:p>
            <a:pPr marL="57150" indent="0">
              <a:buNone/>
            </a:pPr>
            <a:r>
              <a:rPr lang="en-US" dirty="0"/>
              <a:t>3.     </a:t>
            </a:r>
            <a:r>
              <a:rPr lang="en-US" dirty="0" err="1"/>
              <a:t>Kafaka</a:t>
            </a:r>
            <a:r>
              <a:rPr lang="en-US" dirty="0"/>
              <a:t>-connect-</a:t>
            </a:r>
            <a:r>
              <a:rPr lang="en-US" dirty="0" err="1"/>
              <a:t>tdengine</a:t>
            </a:r>
            <a:r>
              <a:rPr lang="en-US" dirty="0"/>
              <a:t> to </a:t>
            </a:r>
          </a:p>
          <a:p>
            <a:pPr marL="971550" lvl="1" indent="-514350"/>
            <a:r>
              <a:rPr lang="en-US" dirty="0"/>
              <a:t>Read data from </a:t>
            </a:r>
            <a:r>
              <a:rPr lang="en-US" dirty="0" err="1"/>
              <a:t>oc_metrics</a:t>
            </a:r>
            <a:endParaRPr lang="en-US" dirty="0"/>
          </a:p>
          <a:p>
            <a:pPr marL="971550" lvl="1" indent="-514350"/>
            <a:r>
              <a:rPr lang="en-US" dirty="0"/>
              <a:t>Insert to </a:t>
            </a:r>
            <a:r>
              <a:rPr lang="en-US" dirty="0" err="1"/>
              <a:t>oc_metrics</a:t>
            </a:r>
            <a:r>
              <a:rPr lang="en-US" dirty="0"/>
              <a:t> with proper mapping.</a:t>
            </a:r>
          </a:p>
          <a:p>
            <a:pPr marL="57150" indent="0">
              <a:buNone/>
            </a:pPr>
            <a:r>
              <a:rPr lang="en-US" dirty="0"/>
              <a:t>4.     Kafka-connect-</a:t>
            </a:r>
            <a:r>
              <a:rPr lang="en-US" dirty="0" err="1"/>
              <a:t>mongodb</a:t>
            </a:r>
            <a:r>
              <a:rPr lang="en-US" dirty="0"/>
              <a:t> to:</a:t>
            </a:r>
          </a:p>
          <a:p>
            <a:pPr marL="971550" lvl="1" indent="-514350"/>
            <a:r>
              <a:rPr lang="en-US" dirty="0"/>
              <a:t>Read data from </a:t>
            </a:r>
            <a:r>
              <a:rPr lang="en-US" dirty="0" err="1"/>
              <a:t>oc_update</a:t>
            </a:r>
            <a:r>
              <a:rPr lang="en-US" dirty="0"/>
              <a:t> topic,  </a:t>
            </a:r>
          </a:p>
          <a:p>
            <a:pPr marL="971550" lvl="1" indent="-514350"/>
            <a:r>
              <a:rPr lang="en-US" dirty="0"/>
              <a:t>insert to  </a:t>
            </a:r>
            <a:r>
              <a:rPr lang="en-US" dirty="0" err="1"/>
              <a:t>mongodb’s</a:t>
            </a:r>
            <a:r>
              <a:rPr lang="en-US" dirty="0"/>
              <a:t> </a:t>
            </a:r>
            <a:r>
              <a:rPr lang="en-US" dirty="0" err="1"/>
              <a:t>oc_update_events</a:t>
            </a:r>
            <a:r>
              <a:rPr lang="en-US" dirty="0"/>
              <a:t> collection with properly mapping.</a:t>
            </a:r>
          </a:p>
        </p:txBody>
      </p:sp>
    </p:spTree>
    <p:extLst>
      <p:ext uri="{BB962C8B-B14F-4D97-AF65-F5344CB8AC3E}">
        <p14:creationId xmlns:p14="http://schemas.microsoft.com/office/powerpoint/2010/main" val="238450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ECBB-E3E0-3337-E082-933FB6D6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oc_events</a:t>
            </a:r>
            <a:r>
              <a:rPr lang="en-US" dirty="0"/>
              <a:t> schema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4F8978-B810-8E93-29FE-B7F6EC0E5D3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143882"/>
              </p:ext>
            </p:extLst>
          </p:nvPr>
        </p:nvGraphicFramePr>
        <p:xfrm>
          <a:off x="7092176" y="2042454"/>
          <a:ext cx="14370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822960" imgH="517956" progId="Package">
                  <p:embed/>
                </p:oleObj>
              </mc:Choice>
              <mc:Fallback>
                <p:oleObj name="Packager Shell Object" showAsIcon="1" r:id="rId2" imgW="822960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92176" y="2042454"/>
                        <a:ext cx="14370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86F928-EF24-85C1-F3BE-3D5D239FAE83}"/>
              </a:ext>
            </a:extLst>
          </p:cNvPr>
          <p:cNvSpPr txBox="1"/>
          <p:nvPr/>
        </p:nvSpPr>
        <p:spPr>
          <a:xfrm>
            <a:off x="1293542" y="1670656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Event Schema Design Strategy: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one generic </a:t>
            </a:r>
            <a:r>
              <a:rPr lang="en-US" altLang="en-US" sz="1400" dirty="0" err="1"/>
              <a:t>oc_events</a:t>
            </a:r>
            <a:r>
              <a:rPr lang="en-US" altLang="en-US" sz="1400" dirty="0"/>
              <a:t>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supertable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TAGS for:</a:t>
            </a:r>
          </a:p>
          <a:p>
            <a:pPr lvl="2" indent="-3429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event_id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network_id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serial_number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equip_type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fw_version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isp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columns for: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Timestamp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ts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The </a:t>
            </a:r>
            <a:r>
              <a:rPr lang="en-US" altLang="en-US" sz="1400" dirty="0" err="1"/>
              <a:t>oc_event</a:t>
            </a:r>
            <a:r>
              <a:rPr lang="en-US" altLang="en-US" sz="1400" dirty="0"/>
              <a:t> table will the union of all event’s properties: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`</a:t>
            </a:r>
            <a:r>
              <a:rPr lang="en-US" altLang="en-US" sz="1400" dirty="0" err="1"/>
              <a:t>EQP-BOOT:cause</a:t>
            </a:r>
            <a:r>
              <a:rPr lang="en-US" altLang="en-US" sz="1400" dirty="0"/>
              <a:t>` BINARY(32) DEFAULT NULL,  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`</a:t>
            </a:r>
            <a:r>
              <a:rPr lang="en-US" altLang="en-US" sz="1400" dirty="0" err="1"/>
              <a:t>EQP-BOOT:reason</a:t>
            </a:r>
            <a:r>
              <a:rPr lang="en-US" altLang="en-US" sz="1400" dirty="0"/>
              <a:t>` BINARY(32) DEFAULT NULL,  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`EQP-CRASH-DUMP` BINARY(32) DEFAULT NULL,  `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/>
              <a:t>EQP-FLASH-AGING:current_wear_level</a:t>
            </a:r>
            <a:r>
              <a:rPr lang="en-US" altLang="en-US" sz="1400" dirty="0"/>
              <a:t>` BINARY(32) DEFAULT NULL,  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`</a:t>
            </a:r>
            <a:r>
              <a:rPr lang="en-US" altLang="en-US" sz="1400" dirty="0" err="1"/>
              <a:t>EQP-FLASH-AGING:previous_wear_level</a:t>
            </a:r>
            <a:r>
              <a:rPr lang="en-US" altLang="en-US" sz="1400" dirty="0"/>
              <a:t>` BINARY(32) DEFAULT NULL,</a:t>
            </a:r>
          </a:p>
        </p:txBody>
      </p:sp>
    </p:spTree>
    <p:extLst>
      <p:ext uri="{BB962C8B-B14F-4D97-AF65-F5344CB8AC3E}">
        <p14:creationId xmlns:p14="http://schemas.microsoft.com/office/powerpoint/2010/main" val="10754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FF23-AEAB-1C55-8EB4-CDC1AD1D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adding new event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7275-1A5B-587A-2D9F-C545F58D5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 STABLE </a:t>
            </a:r>
            <a:r>
              <a:rPr lang="en-US" dirty="0" err="1"/>
              <a:t>oc_events</a:t>
            </a:r>
            <a:r>
              <a:rPr lang="en-US" dirty="0"/>
              <a:t> ADD COLUMN ... for each new attribute. </a:t>
            </a:r>
          </a:p>
          <a:p>
            <a:r>
              <a:rPr lang="en-US" dirty="0"/>
              <a:t>Update the </a:t>
            </a:r>
            <a:r>
              <a:rPr lang="en-US" dirty="0" err="1"/>
              <a:t>TDengine</a:t>
            </a:r>
            <a:r>
              <a:rPr lang="en-US" dirty="0"/>
              <a:t> connector’s template so that the new JSON fields mapped to the right columns.</a:t>
            </a:r>
          </a:p>
          <a:p>
            <a:r>
              <a:rPr lang="en-US" dirty="0"/>
              <a:t>Test on beta, include:</a:t>
            </a:r>
          </a:p>
          <a:p>
            <a:pPr lvl="1"/>
            <a:r>
              <a:rPr lang="en-US" dirty="0"/>
              <a:t>ingestion E2E test </a:t>
            </a:r>
          </a:p>
          <a:p>
            <a:pPr lvl="1"/>
            <a:r>
              <a:rPr lang="en-US" dirty="0"/>
              <a:t>Verify on Grafana/SQL dashboards.</a:t>
            </a:r>
          </a:p>
        </p:txBody>
      </p:sp>
    </p:spTree>
    <p:extLst>
      <p:ext uri="{BB962C8B-B14F-4D97-AF65-F5344CB8AC3E}">
        <p14:creationId xmlns:p14="http://schemas.microsoft.com/office/powerpoint/2010/main" val="324485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9F58-208C-2F82-06B5-A243593A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Modifying an existing event’s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5E9A-0A42-F68B-31B9-59E831E3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Adding </a:t>
            </a:r>
            <a:r>
              <a:rPr lang="en-US" b="1" dirty="0"/>
              <a:t>more</a:t>
            </a:r>
            <a:r>
              <a:rPr lang="en-US" dirty="0"/>
              <a:t> attributes to an existing event</a:t>
            </a:r>
          </a:p>
          <a:p>
            <a:pPr lvl="1"/>
            <a:r>
              <a:rPr lang="en-US" dirty="0"/>
              <a:t>Follow the similar approach as adding a new event type.</a:t>
            </a:r>
          </a:p>
          <a:p>
            <a:r>
              <a:rPr lang="en-US" dirty="0"/>
              <a:t>Renaming, changing type, or dropping an attribute</a:t>
            </a:r>
          </a:p>
          <a:p>
            <a:pPr lvl="1"/>
            <a:r>
              <a:rPr lang="en-US" dirty="0"/>
              <a:t>This type change is incompatible change that should be avoided unless necessary.</a:t>
            </a:r>
          </a:p>
          <a:p>
            <a:pPr lvl="1"/>
            <a:r>
              <a:rPr lang="en-US" dirty="0"/>
              <a:t>Make the changes in two stages:</a:t>
            </a:r>
          </a:p>
          <a:p>
            <a:pPr lvl="2"/>
            <a:r>
              <a:rPr lang="en-US" dirty="0"/>
              <a:t>add a new column for renaming/change type</a:t>
            </a:r>
          </a:p>
          <a:p>
            <a:pPr lvl="2"/>
            <a:r>
              <a:rPr lang="en-US" dirty="0"/>
              <a:t>Change the ingestion mapping to route the data to new column</a:t>
            </a:r>
          </a:p>
          <a:p>
            <a:pPr lvl="2"/>
            <a:r>
              <a:rPr lang="en-US" dirty="0"/>
              <a:t>Mark the column as deprecated with comment</a:t>
            </a:r>
          </a:p>
          <a:p>
            <a:pPr lvl="2"/>
            <a:r>
              <a:rPr lang="en-US" dirty="0"/>
              <a:t>(optional ) Wait for at one data retention period ( 7 days), drop the deprecated columns ( only if no one uses the old column ).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2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340C-46FB-8A2A-CF4D-53BF216F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oc_metrics</a:t>
            </a:r>
            <a:r>
              <a:rPr lang="en-US" dirty="0"/>
              <a:t> table schema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9452232-49EC-7BE6-F135-FD3F94AB4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237868"/>
              </p:ext>
            </p:extLst>
          </p:nvPr>
        </p:nvGraphicFramePr>
        <p:xfrm>
          <a:off x="7195673" y="1675975"/>
          <a:ext cx="8842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883778" imgH="517956" progId="Package">
                  <p:embed/>
                </p:oleObj>
              </mc:Choice>
              <mc:Fallback>
                <p:oleObj name="Packager Shell Object" showAsIcon="1" r:id="rId2" imgW="883778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95673" y="1675975"/>
                        <a:ext cx="884237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8AF2E4-B00E-34FE-995B-0B0793FC5478}"/>
              </a:ext>
            </a:extLst>
          </p:cNvPr>
          <p:cNvSpPr txBox="1"/>
          <p:nvPr/>
        </p:nvSpPr>
        <p:spPr>
          <a:xfrm>
            <a:off x="1064090" y="1793319"/>
            <a:ext cx="5285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Event Schema Design Strategy: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one generic </a:t>
            </a:r>
            <a:r>
              <a:rPr lang="en-US" altLang="en-US" sz="1400" dirty="0" err="1"/>
              <a:t>oc_metrics</a:t>
            </a:r>
            <a:r>
              <a:rPr lang="en-US" altLang="en-US" sz="1400" dirty="0"/>
              <a:t>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supertable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TAGS for:</a:t>
            </a:r>
          </a:p>
          <a:p>
            <a:pPr lvl="2" indent="-3429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event_id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network_id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serial_number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object_id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equip_type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fw_version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isp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columns for: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Timestamp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ts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The </a:t>
            </a:r>
            <a:r>
              <a:rPr lang="en-US" altLang="en-US" sz="1400" dirty="0" err="1"/>
              <a:t>oc_metrics</a:t>
            </a:r>
            <a:r>
              <a:rPr lang="en-US" altLang="en-US" sz="1400" dirty="0"/>
              <a:t> table will the union of all </a:t>
            </a:r>
            <a:r>
              <a:rPr lang="en-US" altLang="en-US" sz="1400" dirty="0" err="1"/>
              <a:t>metrics’s</a:t>
            </a:r>
            <a:r>
              <a:rPr lang="en-US" altLang="en-US" sz="1400" dirty="0"/>
              <a:t> properties: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`</a:t>
            </a:r>
            <a:r>
              <a:rPr lang="en-US" altLang="en-US" sz="1400" dirty="0" err="1"/>
              <a:t>wan:duration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wan:physical_interface_name</a:t>
            </a:r>
            <a:r>
              <a:rPr lang="en-US" altLang="en-US" sz="1400" dirty="0"/>
              <a:t>` BINARY(64),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wan:last_change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wan:max_bitrate_dl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wan:max_bitrate_ul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wan:current_bitrate_dl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wan:current_bitrate_ul</a:t>
            </a:r>
            <a:r>
              <a:rPr lang="en-US" altLang="en-US" sz="1400" dirty="0"/>
              <a:t>` BIGINT,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wan:current_duplex_mode</a:t>
            </a:r>
            <a:r>
              <a:rPr lang="en-US" altLang="en-US" sz="1400" dirty="0"/>
              <a:t>` BINARY(16),</a:t>
            </a: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`</a:t>
            </a:r>
            <a:r>
              <a:rPr lang="en-US" altLang="en-US" sz="1400" dirty="0" err="1"/>
              <a:t>wan:current_flow_control_mode</a:t>
            </a:r>
            <a:r>
              <a:rPr lang="en-US" altLang="en-US" sz="1400" dirty="0"/>
              <a:t>` BINARY(16),</a:t>
            </a:r>
          </a:p>
        </p:txBody>
      </p:sp>
    </p:spTree>
    <p:extLst>
      <p:ext uri="{BB962C8B-B14F-4D97-AF65-F5344CB8AC3E}">
        <p14:creationId xmlns:p14="http://schemas.microsoft.com/office/powerpoint/2010/main" val="182432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471E-31C7-0252-B12B-203EA6E8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Optim</a:t>
            </a:r>
            <a:r>
              <a:rPr lang="en-US" dirty="0"/>
              <a:t> event control config schema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ECDF8-5A50-F781-10F8-83E1601800B4}"/>
              </a:ext>
            </a:extLst>
          </p:cNvPr>
          <p:cNvSpPr txBox="1"/>
          <p:nvPr/>
        </p:nvSpPr>
        <p:spPr>
          <a:xfrm>
            <a:off x="457200" y="1368523"/>
            <a:ext cx="3958683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1. </a:t>
            </a:r>
            <a:r>
              <a:rPr lang="en-US" sz="1200" dirty="0" err="1"/>
              <a:t>event_config_global</a:t>
            </a:r>
            <a:r>
              <a:rPr lang="en-US" sz="1200" dirty="0"/>
              <a:t> Collection</a:t>
            </a:r>
            <a:br>
              <a:rPr lang="en-US" sz="1200" dirty="0"/>
            </a:br>
            <a:r>
              <a:rPr lang="en-US" sz="1200" dirty="0"/>
              <a:t>{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ProfileName</a:t>
            </a:r>
            <a:r>
              <a:rPr lang="en-US" sz="1200" dirty="0"/>
              <a:t>": “</a:t>
            </a:r>
            <a:r>
              <a:rPr lang="en-US" sz="1200" dirty="0" err="1"/>
              <a:t>optim</a:t>
            </a:r>
            <a:r>
              <a:rPr lang="en-US" sz="1200" dirty="0"/>
              <a:t>",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EventDefaults</a:t>
            </a:r>
            <a:r>
              <a:rPr lang="en-US" sz="1200" dirty="0"/>
              <a:t>": {</a:t>
            </a:r>
          </a:p>
          <a:p>
            <a:r>
              <a:rPr lang="en-US" sz="1200" dirty="0"/>
              <a:t>    "Detect": true,</a:t>
            </a:r>
          </a:p>
          <a:p>
            <a:r>
              <a:rPr lang="en-US" sz="1200" dirty="0"/>
              <a:t>    "</a:t>
            </a:r>
            <a:r>
              <a:rPr lang="en-US" sz="1200" dirty="0" err="1"/>
              <a:t>ReportToOptim</a:t>
            </a:r>
            <a:r>
              <a:rPr lang="en-US" sz="1200" dirty="0"/>
              <a:t>": true,</a:t>
            </a:r>
          </a:p>
          <a:p>
            <a:r>
              <a:rPr lang="en-US" sz="1200" dirty="0"/>
              <a:t>    "</a:t>
            </a:r>
            <a:r>
              <a:rPr lang="en-US" sz="1200" dirty="0" err="1"/>
              <a:t>CountAndReportMetric</a:t>
            </a:r>
            <a:r>
              <a:rPr lang="en-US" sz="1200" dirty="0"/>
              <a:t>": true,</a:t>
            </a:r>
          </a:p>
          <a:p>
            <a:r>
              <a:rPr lang="en-US" sz="1200" dirty="0"/>
              <a:t>    "</a:t>
            </a:r>
            <a:r>
              <a:rPr lang="en-US" sz="1200" dirty="0" err="1"/>
              <a:t>CountingInterval</a:t>
            </a:r>
            <a:r>
              <a:rPr lang="en-US" sz="1200" dirty="0"/>
              <a:t>": 1,</a:t>
            </a:r>
          </a:p>
          <a:p>
            <a:r>
              <a:rPr lang="en-US" sz="1200" dirty="0"/>
              <a:t>    "ReportRateControl15min": 10,</a:t>
            </a:r>
          </a:p>
          <a:p>
            <a:r>
              <a:rPr lang="en-US" sz="1200" dirty="0"/>
              <a:t>    "ReportRateControl60min": 30,</a:t>
            </a:r>
          </a:p>
          <a:p>
            <a:r>
              <a:rPr lang="en-US" sz="1200" dirty="0"/>
              <a:t>    "ReportRateControl24hours": 100,</a:t>
            </a:r>
          </a:p>
          <a:p>
            <a:r>
              <a:rPr lang="en-US" sz="1200" dirty="0"/>
              <a:t>    "</a:t>
            </a:r>
            <a:r>
              <a:rPr lang="en-US" sz="1200" dirty="0" err="1"/>
              <a:t>MetricFixedIntervalSec</a:t>
            </a:r>
            <a:r>
              <a:rPr lang="en-US" sz="1200" dirty="0"/>
              <a:t>": 900,</a:t>
            </a:r>
          </a:p>
          <a:p>
            <a:r>
              <a:rPr lang="en-US" sz="1200" dirty="0"/>
              <a:t>    "</a:t>
            </a:r>
            <a:r>
              <a:rPr lang="en-US" sz="1200" dirty="0" err="1"/>
              <a:t>UpdateFixedIntervalMin</a:t>
            </a:r>
            <a:r>
              <a:rPr lang="en-US" sz="1200" dirty="0"/>
              <a:t>": 1440</a:t>
            </a:r>
          </a:p>
          <a:p>
            <a:r>
              <a:rPr lang="en-US" sz="1200" dirty="0"/>
              <a:t>  },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LastUpdated</a:t>
            </a:r>
            <a:r>
              <a:rPr lang="en-US" sz="1200" dirty="0"/>
              <a:t>": </a:t>
            </a:r>
            <a:r>
              <a:rPr lang="en-US" sz="1200" dirty="0" err="1"/>
              <a:t>ISODate</a:t>
            </a:r>
            <a:r>
              <a:rPr lang="en-US" sz="1200" dirty="0"/>
              <a:t>("2025-07-10T01:00:00Z")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77430-DB61-25E2-4ED6-014AB312E020}"/>
              </a:ext>
            </a:extLst>
          </p:cNvPr>
          <p:cNvSpPr txBox="1"/>
          <p:nvPr/>
        </p:nvSpPr>
        <p:spPr>
          <a:xfrm>
            <a:off x="4728117" y="1374769"/>
            <a:ext cx="3958683" cy="27392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2. </a:t>
            </a:r>
            <a:r>
              <a:rPr lang="en-US" sz="1200" dirty="0" err="1"/>
              <a:t>device_event_config</a:t>
            </a:r>
            <a:r>
              <a:rPr lang="en-US" sz="1200" dirty="0"/>
              <a:t> Collection</a:t>
            </a:r>
            <a:br>
              <a:rPr lang="en-US" sz="1200" dirty="0"/>
            </a:br>
            <a:r>
              <a:rPr lang="en-US" sz="1200" dirty="0"/>
              <a:t>{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SerialNumber</a:t>
            </a:r>
            <a:r>
              <a:rPr lang="en-US" sz="1200" dirty="0"/>
              <a:t>": "GW12345678",</a:t>
            </a:r>
          </a:p>
          <a:p>
            <a:r>
              <a:rPr lang="en-US" sz="1200" dirty="0"/>
              <a:t>  “</a:t>
            </a:r>
            <a:r>
              <a:rPr lang="en-US" sz="1200" dirty="0" err="1"/>
              <a:t>UseProfile</a:t>
            </a:r>
            <a:r>
              <a:rPr lang="en-US" sz="1200" dirty="0"/>
              <a:t>": “</a:t>
            </a:r>
            <a:r>
              <a:rPr lang="en-US" sz="1200" dirty="0" err="1"/>
              <a:t>optim</a:t>
            </a:r>
            <a:r>
              <a:rPr lang="en-US" sz="1200" dirty="0"/>
              <a:t>",       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EventOverrides</a:t>
            </a:r>
            <a:r>
              <a:rPr lang="en-US" sz="1200" dirty="0"/>
              <a:t>": {</a:t>
            </a:r>
          </a:p>
          <a:p>
            <a:r>
              <a:rPr lang="en-US" sz="1200" dirty="0"/>
              <a:t>    "EQP-BOOT": {</a:t>
            </a:r>
          </a:p>
          <a:p>
            <a:r>
              <a:rPr lang="en-US" sz="1200" dirty="0"/>
              <a:t>      "Detect": false</a:t>
            </a:r>
          </a:p>
          <a:p>
            <a:r>
              <a:rPr lang="en-US" sz="1200" dirty="0"/>
              <a:t>    },</a:t>
            </a:r>
          </a:p>
          <a:p>
            <a:r>
              <a:rPr lang="en-US" sz="1200" dirty="0"/>
              <a:t>    "METRIC-WIFI": {</a:t>
            </a:r>
          </a:p>
          <a:p>
            <a:r>
              <a:rPr lang="en-US" sz="1200" dirty="0"/>
              <a:t>      "</a:t>
            </a:r>
            <a:r>
              <a:rPr lang="en-US" sz="1200" dirty="0" err="1"/>
              <a:t>MetricFixedIntervalSec</a:t>
            </a:r>
            <a:r>
              <a:rPr lang="en-US" sz="1200" dirty="0"/>
              <a:t>": 60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  },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LastUpdated</a:t>
            </a:r>
            <a:r>
              <a:rPr lang="en-US" sz="1200" dirty="0"/>
              <a:t>": </a:t>
            </a:r>
            <a:r>
              <a:rPr lang="en-US" sz="1200" dirty="0" err="1"/>
              <a:t>ISODate</a:t>
            </a:r>
            <a:r>
              <a:rPr lang="en-US" sz="1200" dirty="0"/>
              <a:t>("2025-07-10T01:00:00Z")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953972-40F8-924B-58E8-F2A7BCECE643}"/>
              </a:ext>
            </a:extLst>
          </p:cNvPr>
          <p:cNvSpPr txBox="1"/>
          <p:nvPr/>
        </p:nvSpPr>
        <p:spPr>
          <a:xfrm>
            <a:off x="925551" y="4798612"/>
            <a:ext cx="72928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 each device, the backend will: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Load default event configs from </a:t>
            </a:r>
            <a:r>
              <a:rPr lang="en-US" b="1" dirty="0" err="1"/>
              <a:t>event_config_global</a:t>
            </a:r>
            <a:r>
              <a:rPr lang="en-US" b="1" dirty="0"/>
              <a:t> using </a:t>
            </a:r>
            <a:r>
              <a:rPr lang="en-US" b="1" dirty="0" err="1"/>
              <a:t>useProfile</a:t>
            </a:r>
            <a:r>
              <a:rPr lang="en-US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Apply overrides from </a:t>
            </a:r>
            <a:r>
              <a:rPr lang="en-US" b="1" dirty="0" err="1"/>
              <a:t>EventOverrides</a:t>
            </a:r>
            <a:r>
              <a:rPr lang="en-US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Support different global config by adding  different profiles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Records in </a:t>
            </a:r>
            <a:r>
              <a:rPr lang="en-US" b="1" dirty="0" err="1"/>
              <a:t>device_event_config</a:t>
            </a:r>
            <a:r>
              <a:rPr lang="en-US" b="1" dirty="0"/>
              <a:t> will be added only when there is a change to overwrite the defaults, or to use a different </a:t>
            </a:r>
            <a:r>
              <a:rPr lang="en-US" b="1" dirty="0" err="1"/>
              <a:t>defaultprofile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0936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FE34-8B54-65E8-629F-47427CBE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MQTT-Based Config Sync via CTRL/REPLY Topic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C3595-B5BC-F7E3-B405-10B99642199C}"/>
              </a:ext>
            </a:extLst>
          </p:cNvPr>
          <p:cNvSpPr txBox="1"/>
          <p:nvPr/>
        </p:nvSpPr>
        <p:spPr>
          <a:xfrm>
            <a:off x="602166" y="1862255"/>
            <a:ext cx="4047893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 err="1"/>
              <a:t>Optim</a:t>
            </a:r>
            <a:r>
              <a:rPr lang="en-US" dirty="0"/>
              <a:t> Cloud ➝ Device 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Publish to CTRL/&lt;</a:t>
            </a:r>
            <a:r>
              <a:rPr lang="en-US" dirty="0" err="1"/>
              <a:t>SerialNumber</a:t>
            </a:r>
            <a:r>
              <a:rPr lang="en-US" dirty="0"/>
              <a:t>&gt; with RPC payload: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</a:t>
            </a:r>
          </a:p>
          <a:p>
            <a:r>
              <a:rPr lang="en-US" dirty="0"/>
              <a:t>        "type": "SET_EVENT_CONFIG",</a:t>
            </a:r>
          </a:p>
          <a:p>
            <a:r>
              <a:rPr lang="en-US" dirty="0"/>
              <a:t>        "payload": {</a:t>
            </a:r>
          </a:p>
          <a:p>
            <a:r>
              <a:rPr lang="en-US" dirty="0"/>
              <a:t>    	"</a:t>
            </a:r>
            <a:r>
              <a:rPr lang="en-US" dirty="0" err="1"/>
              <a:t>EventConfig</a:t>
            </a:r>
            <a:r>
              <a:rPr lang="en-US" dirty="0"/>
              <a:t>": { ... }</a:t>
            </a:r>
          </a:p>
          <a:p>
            <a:r>
              <a:rPr lang="en-US" dirty="0"/>
              <a:t>          }</a:t>
            </a:r>
          </a:p>
          <a:p>
            <a:r>
              <a:rPr lang="en-US" dirty="0"/>
              <a:t>      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C1984-6E51-1865-BB8F-4755F80C9A0F}"/>
              </a:ext>
            </a:extLst>
          </p:cNvPr>
          <p:cNvSpPr txBox="1"/>
          <p:nvPr/>
        </p:nvSpPr>
        <p:spPr>
          <a:xfrm>
            <a:off x="4869366" y="1862255"/>
            <a:ext cx="4047893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B. Device ➝ </a:t>
            </a:r>
            <a:r>
              <a:rPr lang="en-US" dirty="0" err="1"/>
              <a:t>Optim</a:t>
            </a:r>
            <a:r>
              <a:rPr lang="en-US" dirty="0"/>
              <a:t>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Reply on REPLY/&lt;</a:t>
            </a:r>
            <a:r>
              <a:rPr lang="en-US" dirty="0" err="1"/>
              <a:t>SerialNumber</a:t>
            </a:r>
            <a:r>
              <a:rPr lang="en-US" dirty="0"/>
              <a:t>&gt; confirming configuration update: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"type": "SET_EVENT_CONFIG_ACK",</a:t>
            </a:r>
          </a:p>
          <a:p>
            <a:pPr lvl="1"/>
            <a:r>
              <a:rPr lang="en-US" dirty="0"/>
              <a:t>  "payload": {</a:t>
            </a:r>
          </a:p>
          <a:p>
            <a:pPr lvl="1"/>
            <a:r>
              <a:rPr lang="en-US" dirty="0"/>
              <a:t>    "status": "ok",</a:t>
            </a:r>
          </a:p>
          <a:p>
            <a:pPr lvl="1"/>
            <a:r>
              <a:rPr lang="en-US" dirty="0"/>
              <a:t>    "applied": true</a:t>
            </a:r>
          </a:p>
          <a:p>
            <a:pPr lvl="1"/>
            <a:r>
              <a:rPr lang="en-US" dirty="0"/>
              <a:t>  }</a:t>
            </a:r>
          </a:p>
          <a:p>
            <a:pPr lvl="1"/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62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C964-FA90-FDFF-6975-B8035B53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verify </a:t>
            </a:r>
            <a:r>
              <a:rPr lang="en-US" dirty="0" err="1"/>
              <a:t>optim</a:t>
            </a:r>
            <a:r>
              <a:rPr lang="en-US" dirty="0"/>
              <a:t> event control via TDSM </a:t>
            </a:r>
            <a:r>
              <a:rPr lang="en-US" dirty="0" err="1"/>
              <a:t>sql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BC022-2387-6BD1-41C9-527F3D90C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Check Metric Report Frequency</a:t>
            </a:r>
          </a:p>
          <a:p>
            <a:pPr marL="457200" lvl="1" indent="0">
              <a:buNone/>
            </a:pPr>
            <a:endParaRPr lang="en-US" i="1" dirty="0"/>
          </a:p>
          <a:p>
            <a:pPr marL="857250" lvl="2" indent="0">
              <a:buNone/>
            </a:pPr>
            <a:r>
              <a:rPr lang="en-US" sz="1900" i="1" dirty="0"/>
              <a:t>SELECT COUNT(*) AS </a:t>
            </a:r>
            <a:r>
              <a:rPr lang="en-US" sz="1900" i="1" dirty="0" err="1"/>
              <a:t>reports_per_day</a:t>
            </a:r>
            <a:endParaRPr lang="en-US" sz="1900" i="1" dirty="0"/>
          </a:p>
          <a:p>
            <a:pPr marL="857250" lvl="2" indent="0">
              <a:buNone/>
            </a:pPr>
            <a:r>
              <a:rPr lang="en-US" sz="1900" i="1" dirty="0"/>
              <a:t>FROM </a:t>
            </a:r>
            <a:r>
              <a:rPr lang="en-US" sz="1900" i="1" dirty="0" err="1"/>
              <a:t>oc_wan_metrics</a:t>
            </a:r>
            <a:endParaRPr lang="en-US" sz="1900" i="1" dirty="0"/>
          </a:p>
          <a:p>
            <a:pPr marL="857250" lvl="2" indent="0">
              <a:buNone/>
            </a:pPr>
            <a:r>
              <a:rPr lang="en-US" sz="1900" i="1" dirty="0"/>
              <a:t>WHERE </a:t>
            </a:r>
            <a:r>
              <a:rPr lang="en-US" sz="1900" i="1" dirty="0" err="1"/>
              <a:t>SerialNumber</a:t>
            </a:r>
            <a:r>
              <a:rPr lang="en-US" sz="1900" i="1" dirty="0"/>
              <a:t> = 'GW12345678'</a:t>
            </a:r>
          </a:p>
          <a:p>
            <a:pPr marL="857250" lvl="2" indent="0">
              <a:buNone/>
            </a:pPr>
            <a:r>
              <a:rPr lang="en-US" sz="1900" i="1" dirty="0"/>
              <a:t>  AND </a:t>
            </a:r>
            <a:r>
              <a:rPr lang="en-US" sz="1900" i="1" dirty="0" err="1"/>
              <a:t>EventType</a:t>
            </a:r>
            <a:r>
              <a:rPr lang="en-US" sz="1900" i="1" dirty="0"/>
              <a:t> = 'METRIC'</a:t>
            </a:r>
          </a:p>
          <a:p>
            <a:pPr marL="857250" lvl="2" indent="0">
              <a:buNone/>
            </a:pPr>
            <a:r>
              <a:rPr lang="en-US" sz="1900" i="1" dirty="0"/>
              <a:t>  AND </a:t>
            </a:r>
            <a:r>
              <a:rPr lang="en-US" sz="1900" i="1" dirty="0" err="1"/>
              <a:t>ts</a:t>
            </a:r>
            <a:r>
              <a:rPr lang="en-US" sz="1900" i="1" dirty="0"/>
              <a:t> &gt; now - 1d;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 Event Rate Control Enforcement</a:t>
            </a:r>
          </a:p>
          <a:p>
            <a:pPr marL="857250" lvl="2" indent="0">
              <a:buNone/>
            </a:pPr>
            <a:r>
              <a:rPr lang="en-US" sz="2100" i="1" dirty="0"/>
              <a:t>SELECT </a:t>
            </a:r>
            <a:r>
              <a:rPr lang="en-US" sz="2100" i="1" dirty="0" err="1"/>
              <a:t>event_id</a:t>
            </a:r>
            <a:r>
              <a:rPr lang="en-US" sz="2100" i="1" dirty="0"/>
              <a:t>, COUNT(*) AS </a:t>
            </a:r>
            <a:r>
              <a:rPr lang="en-US" sz="2100" i="1" dirty="0" err="1"/>
              <a:t>reported_events</a:t>
            </a:r>
            <a:endParaRPr lang="en-US" sz="2100" i="1" dirty="0"/>
          </a:p>
          <a:p>
            <a:pPr marL="857250" lvl="2" indent="0">
              <a:buNone/>
            </a:pPr>
            <a:r>
              <a:rPr lang="en-US" sz="2100" i="1" dirty="0"/>
              <a:t>FROM </a:t>
            </a:r>
            <a:r>
              <a:rPr lang="en-US" sz="2100" i="1" dirty="0" err="1"/>
              <a:t>oc_events</a:t>
            </a:r>
            <a:endParaRPr lang="en-US" sz="2100" i="1" dirty="0"/>
          </a:p>
          <a:p>
            <a:pPr marL="857250" lvl="2" indent="0">
              <a:buNone/>
            </a:pPr>
            <a:r>
              <a:rPr lang="en-US" sz="2100" i="1" dirty="0"/>
              <a:t>WHERE </a:t>
            </a:r>
            <a:r>
              <a:rPr lang="en-US" sz="2100" i="1" dirty="0" err="1"/>
              <a:t>SerialNumber</a:t>
            </a:r>
            <a:r>
              <a:rPr lang="en-US" sz="2100" i="1" dirty="0"/>
              <a:t> = 'GW12345678'</a:t>
            </a:r>
          </a:p>
          <a:p>
            <a:pPr marL="857250" lvl="2" indent="0">
              <a:buNone/>
            </a:pPr>
            <a:r>
              <a:rPr lang="en-US" sz="2100" i="1" dirty="0"/>
              <a:t>  AND </a:t>
            </a:r>
            <a:r>
              <a:rPr lang="en-US" sz="2100" i="1" dirty="0" err="1"/>
              <a:t>ts</a:t>
            </a:r>
            <a:r>
              <a:rPr lang="en-US" sz="2100" i="1" dirty="0"/>
              <a:t> &gt; now - 15m</a:t>
            </a:r>
          </a:p>
          <a:p>
            <a:pPr marL="857250" lvl="2" indent="0">
              <a:buNone/>
            </a:pPr>
            <a:r>
              <a:rPr lang="en-US" sz="2100" i="1" dirty="0"/>
              <a:t>GROUP BY </a:t>
            </a:r>
            <a:r>
              <a:rPr lang="en-US" sz="2100" i="1" dirty="0" err="1"/>
              <a:t>event_id</a:t>
            </a:r>
            <a:r>
              <a:rPr lang="en-US" sz="2100" i="1" dirty="0"/>
              <a:t>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53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16048</TotalTime>
  <Words>1281</Words>
  <Application>Microsoft Office PowerPoint</Application>
  <PresentationFormat>On-screen Show (4:3)</PresentationFormat>
  <Paragraphs>165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Office Theme</vt:lpstr>
      <vt:lpstr>Packager Shell Object</vt:lpstr>
      <vt:lpstr>Package</vt:lpstr>
      <vt:lpstr>Optim cloud event system architecture/features discussion</vt:lpstr>
      <vt:lpstr>Topics</vt:lpstr>
      <vt:lpstr>Project Overview</vt:lpstr>
      <vt:lpstr>Optim Event System Architecture (backend)</vt:lpstr>
      <vt:lpstr>Optim Event MQTT message</vt:lpstr>
      <vt:lpstr>Optim event auto ingestion flow</vt:lpstr>
      <vt:lpstr>oc_events schema</vt:lpstr>
      <vt:lpstr>Support adding new event type</vt:lpstr>
      <vt:lpstr>Modifying an existing event’s properties</vt:lpstr>
      <vt:lpstr>oc_metrics table schema</vt:lpstr>
      <vt:lpstr>Optim event control config schema design</vt:lpstr>
      <vt:lpstr>MQTT-Based Config Sync via CTRL/REPLY Topic</vt:lpstr>
      <vt:lpstr>How to verify optim event control via TDSM sql?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Wenbin He</dc:creator>
  <cp:keywords/>
  <dc:description>generated using python-pptx</dc:description>
  <cp:lastModifiedBy>Wenbin He</cp:lastModifiedBy>
  <cp:revision>48</cp:revision>
  <dcterms:created xsi:type="dcterms:W3CDTF">2013-01-27T09:14:16Z</dcterms:created>
  <dcterms:modified xsi:type="dcterms:W3CDTF">2025-07-15T06:10:54Z</dcterms:modified>
  <cp:category/>
</cp:coreProperties>
</file>